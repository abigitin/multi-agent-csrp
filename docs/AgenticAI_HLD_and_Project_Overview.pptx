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5CD3"/>
                </a:solidFill>
              </a:defRPr>
            </a:pPr>
            <a:r>
              <a:t>AgenticAI SupportOps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00200"/>
            <a:ext cx="8503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B1620"/>
                </a:solidFill>
              </a:defRPr>
            </a:pPr>
            <a:r>
              <a:t>Customer Support Resolution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26576"/>
                </a:solidFill>
              </a:defRPr>
            </a:pPr>
            <a:r>
              <a:t>A multi-agent workflow for ticket intake, Pinecone knowledge retrieval, AI drafting, guardrails, approval, and Gmail SMTP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261872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78824" y="1371600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Live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8824" y="1655064"/>
            <a:ext cx="23134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Pinecone customer-support</a:t>
            </a:r>
            <a:br/>
            <a:r>
              <a:t>namespace __default__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51460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78824" y="262432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SMTP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2907792"/>
            <a:ext cx="23134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Gmail notification path</a:t>
            </a:r>
            <a:br/>
            <a:r>
              <a:t>verified 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767328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3877056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620"/>
                </a:solidFill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4160520"/>
            <a:ext cx="23134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React operations console</a:t>
            </a:r>
            <a:br/>
            <a:r>
              <a:t>professional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620"/>
                </a:solidFill>
              </a:defRPr>
            </a:pPr>
            <a: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Business-friendly summary of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26576"/>
                </a:solidFill>
              </a:defRPr>
            </a:pPr>
            <a:r>
              <a:t>A React dashboard for support operators.</a:t>
            </a:r>
          </a:p>
          <a:p>
            <a:pPr>
              <a:spcAft>
                <a:spcPts val="700"/>
              </a:spcAft>
              <a:defRPr sz="1800">
                <a:solidFill>
                  <a:srgbClr val="526576"/>
                </a:solidFill>
              </a:defRPr>
            </a:pPr>
            <a:r>
              <a:t>A FastAPI backend that manages tickets, runs, drafts, citations, approvals, and notifications.</a:t>
            </a:r>
          </a:p>
          <a:p>
            <a:pPr>
              <a:spcAft>
                <a:spcPts val="700"/>
              </a:spcAft>
              <a:defRPr sz="1800">
                <a:solidFill>
                  <a:srgbClr val="526576"/>
                </a:solidFill>
              </a:defRPr>
            </a:pPr>
            <a:r>
              <a:t>A Pinecone integrated-embedding knowledge store for live semantic retrieval.</a:t>
            </a:r>
          </a:p>
          <a:p>
            <a:pPr>
              <a:spcAft>
                <a:spcPts val="700"/>
              </a:spcAft>
              <a:defRPr sz="1800">
                <a:solidFill>
                  <a:srgbClr val="526576"/>
                </a:solidFill>
              </a:defRPr>
            </a:pPr>
            <a:r>
              <a:t>A multi-agent workflow that records every step for review and audit.</a:t>
            </a:r>
          </a:p>
          <a:p>
            <a:pPr>
              <a:spcAft>
                <a:spcPts val="700"/>
              </a:spcAft>
              <a:defRPr sz="1800">
                <a:solidFill>
                  <a:srgbClr val="526576"/>
                </a:solidFill>
              </a:defRPr>
            </a:pPr>
            <a:r>
              <a:t>A Gmail SMTP notification path that can send through the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81328"/>
            <a:ext cx="1947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194767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Reviews tickets and approves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7160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61704" y="1481328"/>
            <a:ext cx="1947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704" y="1764792"/>
            <a:ext cx="194767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Runs agents and stores the full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3035808"/>
            <a:ext cx="4462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620"/>
                </a:solidFill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319272"/>
            <a:ext cx="4462272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Faster ticket response with citations, guardrails, and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620"/>
                </a:solidFill>
              </a:defRPr>
            </a:pPr>
            <a:r>
              <a:t>High-Level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How the main building blocks talk to each other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25272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3619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Support user works in the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143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25272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153619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Ticket dashboard and review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43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25272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FastAPI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53619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REST API and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43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125272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Agent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153619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Intake, retrieval, draft,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143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25272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MCP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53619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Knowledge, memory, mail, ticket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335584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63931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Runs, traces, drafts, approvals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2461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335584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Pinecone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63931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Integrated embedding knowledge 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2461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7544" y="3355848"/>
            <a:ext cx="1399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Gmail SMTP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3639312"/>
            <a:ext cx="1399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Customer notification delivery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40280" y="1600200.0"/>
            <a:ext cx="228600" cy="0.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60520" y="1600200.0"/>
            <a:ext cx="411480" cy="0.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63640" y="1600200.0"/>
            <a:ext cx="457200" cy="0.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0" y="1600200.0"/>
            <a:ext cx="502920" cy="0.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13248" y="2057400"/>
            <a:ext cx="0" cy="118872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138160" y="2057400"/>
            <a:ext cx="1051560" cy="118872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32720" y="2057400"/>
            <a:ext cx="320040" cy="1188720"/>
          </a:xfrm>
          <a:prstGeom prst="line">
            <a:avLst/>
          </a:prstGeom>
          <a:ln w="19050">
            <a:solidFill>
              <a:srgbClr val="829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620"/>
                </a:solidFill>
              </a:defRPr>
            </a:pPr>
            <a:r>
              <a:t>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Each step has a clear responsibility and leaves an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270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1.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105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Normalize ticket and issue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5270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2.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18105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Search Pinecone for relevant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270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5CD3"/>
                </a:solidFill>
              </a:defRPr>
            </a:pPr>
            <a:r>
              <a:t>3.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18105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Draft a customer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4.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Send or queue notification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5.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6393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Score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2461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6.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639312"/>
            <a:ext cx="295351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Pass or route to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620"/>
                </a:solidFill>
              </a:defRPr>
            </a:pPr>
            <a:r>
              <a:t>Key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Where the important behavior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backend/main.py starts the API and database.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backend/api/routes.py exposes frontend endpoints.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backend/agents/workflow.py runs the agent process.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backend/rag/pinecone_store.py handles Pinecone upsert and search.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backend/integrations/mail.py sends SMTP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1206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frontend/src/components/TicketDashboard.tsx is the dashboard screen.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frontend/src/api.ts calls the backend.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frontend/src/styles.css contains the new UI design.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README.md explains the full app.</a:t>
            </a:r>
          </a:p>
          <a:p>
            <a:pPr>
              <a:spcAft>
                <a:spcPts val="700"/>
              </a:spcAft>
              <a:defRPr sz="1500">
                <a:solidFill>
                  <a:srgbClr val="526576"/>
                </a:solidFill>
              </a:defRPr>
            </a:pPr>
            <a:r>
              <a:t>AGENTS.md explains agent responsibilities.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620"/>
                </a:solidFill>
              </a:defRPr>
            </a:pPr>
            <a:r>
              <a:t>Verification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6576"/>
                </a:solidFill>
              </a:defRPr>
            </a:pPr>
            <a:r>
              <a:t>What was confirmed after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Frontend production build passes.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Backend tests pass.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Pinecone status reports live.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Pinecone namespace __default__ contains synced vectors.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MCP knowledge search returns pinecone mode results.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Ticket workflow persists retrieval_mode=pinecone with citations.</a:t>
            </a:r>
          </a:p>
          <a:p>
            <a:pPr>
              <a:spcAft>
                <a:spcPts val="700"/>
              </a:spcAft>
              <a:defRPr sz="1900">
                <a:solidFill>
                  <a:srgbClr val="526576"/>
                </a:solidFill>
              </a:defRPr>
            </a:pPr>
            <a:r>
              <a:t>Gmail SMTP app-path notification returned 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